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6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9" name="Shape 7"/>
          <p:cNvSpPr/>
          <p:nvPr/>
        </p:nvSpPr>
        <p:spPr>
          <a:xfrm>
            <a:off x="8266176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0" name="Shape 8"/>
          <p:cNvSpPr/>
          <p:nvPr/>
        </p:nvSpPr>
        <p:spPr>
          <a:xfrm>
            <a:off x="8266176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1" name="Shape 9"/>
          <p:cNvSpPr/>
          <p:nvPr/>
        </p:nvSpPr>
        <p:spPr>
          <a:xfrm>
            <a:off x="8266176" y="1261872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66176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66176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246888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68512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68512" y="859536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68512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68512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68512" y="2066544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68512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070848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Shape 20"/>
          <p:cNvSpPr/>
          <p:nvPr/>
        </p:nvSpPr>
        <p:spPr>
          <a:xfrm>
            <a:off x="9070848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3" name="Shape 21"/>
          <p:cNvSpPr/>
          <p:nvPr/>
        </p:nvSpPr>
        <p:spPr>
          <a:xfrm>
            <a:off x="9070848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0848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70848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70848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7" name="Shape 25"/>
          <p:cNvSpPr/>
          <p:nvPr/>
        </p:nvSpPr>
        <p:spPr>
          <a:xfrm>
            <a:off x="9473184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8" name="Shape 26"/>
          <p:cNvSpPr/>
          <p:nvPr/>
        </p:nvSpPr>
        <p:spPr>
          <a:xfrm>
            <a:off x="9473184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29" name="Shape 27"/>
          <p:cNvSpPr/>
          <p:nvPr/>
        </p:nvSpPr>
        <p:spPr>
          <a:xfrm>
            <a:off x="9473184" y="1261872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Shape 28"/>
          <p:cNvSpPr/>
          <p:nvPr/>
        </p:nvSpPr>
        <p:spPr>
          <a:xfrm>
            <a:off x="9473184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473184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473184" y="246888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9875520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4" name="Shape 32"/>
          <p:cNvSpPr/>
          <p:nvPr/>
        </p:nvSpPr>
        <p:spPr>
          <a:xfrm>
            <a:off x="9875520" y="859536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5" name="Shape 33"/>
          <p:cNvSpPr/>
          <p:nvPr/>
        </p:nvSpPr>
        <p:spPr>
          <a:xfrm>
            <a:off x="9875520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6" name="Shape 34"/>
          <p:cNvSpPr/>
          <p:nvPr/>
        </p:nvSpPr>
        <p:spPr>
          <a:xfrm>
            <a:off x="9875520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875520" y="2066544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9875520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277856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77856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77856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77856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77856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77856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80192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80192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80192" y="1261872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680192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80192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80192" y="246888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1" name="Shape 49"/>
          <p:cNvSpPr/>
          <p:nvPr/>
        </p:nvSpPr>
        <p:spPr>
          <a:xfrm>
            <a:off x="11082528" y="45720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2" name="Shape 50"/>
          <p:cNvSpPr/>
          <p:nvPr/>
        </p:nvSpPr>
        <p:spPr>
          <a:xfrm>
            <a:off x="11082528" y="859536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3" name="Shape 51"/>
          <p:cNvSpPr/>
          <p:nvPr/>
        </p:nvSpPr>
        <p:spPr>
          <a:xfrm>
            <a:off x="11082528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82528" y="1664208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5" name="Shape 53"/>
          <p:cNvSpPr/>
          <p:nvPr/>
        </p:nvSpPr>
        <p:spPr>
          <a:xfrm>
            <a:off x="11082528" y="2066544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6" name="Shape 54"/>
          <p:cNvSpPr/>
          <p:nvPr/>
        </p:nvSpPr>
        <p:spPr>
          <a:xfrm>
            <a:off x="11082528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7" name="Shape 55"/>
          <p:cNvSpPr/>
          <p:nvPr/>
        </p:nvSpPr>
        <p:spPr>
          <a:xfrm>
            <a:off x="11484864" y="457200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484864" y="859536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84864" y="1261872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484864" y="1664208"/>
            <a:ext cx="310896" cy="3108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484864" y="2066544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84864" y="2468880"/>
            <a:ext cx="310896" cy="310896"/>
          </a:xfrm>
          <a:prstGeom prst="rect">
            <a:avLst/>
          </a:prstGeom>
          <a:solidFill>
            <a:srgbClr val="12384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40080" y="21031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CHEAT CODES</a:t>
            </a:r>
            <a:endParaRPr lang="en-US" sz="4400" dirty="0"/>
          </a:p>
        </p:txBody>
      </p:sp>
      <p:sp>
        <p:nvSpPr>
          <p:cNvPr id="64" name="Text 62"/>
          <p:cNvSpPr txBox="1"/>
          <p:nvPr/>
        </p:nvSpPr>
        <p:spPr>
          <a:xfrm>
            <a:off x="640080" y="28803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Modern Data Analyst</a:t>
            </a:r>
            <a:endParaRPr lang="en-US" sz="20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3520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Formulas, shortcuts &amp; workflows that separate a beginner from a pro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40080" y="4160520"/>
            <a:ext cx="822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KALYAN  |  DATA ANALYST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Shortcuts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and edit at pro speed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572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Formulas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65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XLOOKUP, INDEX-MATCH &amp; friends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73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Arrays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5478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UNIQUE, SEQUENCE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95351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273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54787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TRIM, TEXT functions, Flash Fill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3542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85546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46304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PivotTables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1297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millions of rows in seconds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535424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85546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4736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1297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data prep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Shortcuts Every Analyst Needs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24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Arrow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edge of data region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67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End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267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 last used cell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24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Home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724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A1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182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PageUp/Down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sheets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639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/ Ctrl + 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639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 specific cell/range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224528"/>
            <a:ext cx="4754880" cy="0"/>
          </a:xfrm>
          <a:prstGeom prst="line">
            <a:avLst/>
          </a:prstGeom>
          <a:noFill/>
          <a:ln w="12700">
            <a:solidFill>
              <a:srgbClr val="2349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3525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FAST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365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4736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Fill (auto-pattern match)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937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+ =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5193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AutoSum instantly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650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017520" y="5650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last action / lock cell refs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3796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FORMAT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1965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filters on/off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2514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2514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range to a Table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3063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Cells dialog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6118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+ H, O, I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36118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column width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3796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+ 4/1/5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9611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/ Number / % format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4709160"/>
            <a:ext cx="4754880" cy="0"/>
          </a:xfrm>
          <a:prstGeom prst="line">
            <a:avLst/>
          </a:prstGeom>
          <a:noFill/>
          <a:ln w="12700">
            <a:solidFill>
              <a:srgbClr val="DDE6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3796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3796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the fill handle (bottom-right corner of a cell) to auto-fill a formula down an entire adjacent column instantly.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Formulas That Actually Scale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XLOOKUP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385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=XLOOKUP(lookup_value, lookup_array, return_array)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042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VLOOKUP/HLOOKUP — searches left or right, no column counting, built-in "not found" handling.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71800"/>
            <a:ext cx="109728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+ MATCH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5387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=INDEX(return_range, MATCH(lookup_value, lookup_range, 0))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044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combo — still faster than VLOOKUP on huge sheets and works in any Excel version.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572000"/>
            <a:ext cx="109728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VLOOKUP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38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=VLOOKUP(lookup_value, table_array, col_index, FALSE)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50468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common in legacy files — always set the last argument to FALSE for exact match.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Array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Excel "spills" results across cells automatically — no Ctrl+Shift+Enter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=FILTER(range, condition)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rows matching a condition — a dynamic, live subset of your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58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=SORT(range, col_index, order)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data without touching the original range.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913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=UNIQUE(range)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823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list distinct values — great for building dropdowns.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730752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23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39136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=SEQUENCE(rows, cols, start, step)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8231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number series for IDs, dates, or synthetic data.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Messy Data in Seconds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TRIM()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243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extra spaces between words and at the edges of text.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645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537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243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non-printable characters pasted in from other systems.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41732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1645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01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330184" y="2240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TEXT()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26243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numbers/dates into a display string, e.g. TEXT(A1,"dd-mmm-yyyy").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76472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05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 Fill (Ctrl+E)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pattern from one example and fills the rest of the column.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25112" y="3776472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4005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5371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53712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to Columns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one column into many using a delimiter like a comma or space.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1584" y="3776472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8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30184" y="400507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30184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330184" y="45994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30184" y="4983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 → removes duplicate rows based on chosen columns.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PivotTables: Your Fastest Path to Insight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cell in your data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733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T first to convert to a Table so the Pivot auto-updates with new rows.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677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&gt; PivotTable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946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"New Worksheet" to keep raw data untouched.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1638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fields into Rows/Columns/Values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6557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categorical fields into Rows, numeric fields into Values.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0599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&gt; Group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616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dates into Months/Quarters or numbers into bins automatically.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9560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Slicer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57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&gt; Slicer for a clickable filter your stakeholders can use themselves.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1371600"/>
            <a:ext cx="4846320" cy="4709160"/>
          </a:xfrm>
          <a:prstGeom prst="roundRect">
            <a:avLst>
              <a:gd name="adj" fmla="val 1553"/>
            </a:avLst>
          </a:prstGeom>
          <a:solidFill>
            <a:srgbClr val="0B24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8660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MOVES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86600" y="21579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60920" y="20299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Field Settings → "Show Values As" → % of Column Total for share-of-total views.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86600" y="30723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60920" y="29443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GETPIVOTDATA() lets you reference pivot values in formulas outside the pivot.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86600" y="39867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60920" y="38587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same field to Values twice (e.g. Sum and Count) to see totals and volume together.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086600" y="4901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60920" y="477316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&gt; Pivot Table Options &gt; enable "Refresh on open" for live dashboards.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Query: Automate the Boring Part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 &gt; Get Data — build a repeatable pipeline once, then just hit Refresh.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569464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CSV, folders, databases, or the web.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16352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16352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37176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16352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blanks, fix types, trim errors — recorded as steps.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84064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84064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Pivot, unpivot, split, or merge columns visually.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51776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51776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1920240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51776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or merge multiple sources into one table.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19488" y="19202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19488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3337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result straight into a sheet or the Data Model.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238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recorded — so next month's file just needs a click of "Refresh," turning a 2-hour manual cleanup into a 10-second task.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The Analyst's Formula Toolkit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44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SUMIFS / COUNTIFS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144475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or count with multiple conditions across columns.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11064240" cy="713232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57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IFERROR()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2157984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any formula to show a clean value instead of #N/A or #REF!.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712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TEXTJOIN()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87121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cells into one string with a chosen delimiter.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64240" cy="713232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584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CONCAT() / &amp;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5844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text values, e.g. first + last name.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1106424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+ AND/OR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2976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logic tests for multi-condition rules.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64240" cy="713232"/>
          </a:xfrm>
          <a:prstGeom prst="rect">
            <a:avLst/>
          </a:prstGeom>
          <a:solidFill>
            <a:srgbClr val="EDF3F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0109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` (grave)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50109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formula view to audit an entire sheet at once.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the Sheet.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the Story Behind the Data.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save minutes. Formulas save hours. Automation saves days.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Cheat Codes for Data Analysts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2026-09-12T13:52:37Z</dcterms:created>
  <dcterms:modified xsi:type="dcterms:W3CDTF">2026-09-12T13:52:37Z</dcterms:modified>
</cp:coreProperties>
</file>